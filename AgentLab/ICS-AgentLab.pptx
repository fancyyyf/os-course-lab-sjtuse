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5"/>
  </p:notesMasterIdLst>
  <p:handoutMasterIdLst>
    <p:handoutMasterId r:id="rId16"/>
  </p:handoutMasterIdLst>
  <p:sldIdLst>
    <p:sldId id="2241" r:id="rId2"/>
    <p:sldId id="529" r:id="rId3"/>
    <p:sldId id="2250" r:id="rId4"/>
    <p:sldId id="2245" r:id="rId5"/>
    <p:sldId id="2251" r:id="rId6"/>
    <p:sldId id="2252" r:id="rId7"/>
    <p:sldId id="2253" r:id="rId8"/>
    <p:sldId id="2254" r:id="rId9"/>
    <p:sldId id="2255" r:id="rId10"/>
    <p:sldId id="2256" r:id="rId11"/>
    <p:sldId id="2257" r:id="rId12"/>
    <p:sldId id="2258" r:id="rId13"/>
    <p:sldId id="312" r:id="rId1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3" pos="29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DFF"/>
    <a:srgbClr val="0432FF"/>
    <a:srgbClr val="BE384B"/>
    <a:srgbClr val="E2EAF7"/>
    <a:srgbClr val="FF5F00"/>
    <a:srgbClr val="FF7E79"/>
    <a:srgbClr val="F6F9D6"/>
    <a:srgbClr val="B0FFD3"/>
    <a:srgbClr val="FFFC00"/>
    <a:srgbClr val="73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79326" autoAdjust="0"/>
  </p:normalViewPr>
  <p:slideViewPr>
    <p:cSldViewPr>
      <p:cViewPr varScale="1">
        <p:scale>
          <a:sx n="142" d="100"/>
          <a:sy n="142" d="100"/>
        </p:scale>
        <p:origin x="2600" y="176"/>
      </p:cViewPr>
      <p:guideLst>
        <p:guide orient="horz" pos="2480"/>
        <p:guide pos="2925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handoutMaster" Target="handoutMasters/handout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9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  <a:latin typeface="+mn-lt"/>
                <a:ea typeface="+mn-ea"/>
                <a:cs typeface="PingFang SC" panose="020B0400000000000000" pitchFamily="34" charset="-122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+mn-lt"/>
                <a:ea typeface="+mn-ea"/>
                <a:cs typeface="PingFang SC" panose="020B0400000000000000" pitchFamily="34" charset="-122"/>
              </a:defRPr>
            </a:lvl1pPr>
            <a:lvl2pPr marL="360000"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2pPr>
            <a:lvl3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hyperlink" Target="https://github.com/astral-sh/uv/releases/tag/0.11.13" TargetMode="Externa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shareai.run/zh/" TargetMode="Externa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pads.se.sjtu.edu.cn/courses/ics/ics-agent-lab" TargetMode="Externa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91887"/>
            <a:ext cx="7772400" cy="122502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3600" dirty="0">
                <a:latin typeface="+mn-lt"/>
              </a:rPr>
              <a:t>ICS Agent Lab</a:t>
            </a:r>
            <a:endParaRPr kumimoji="1" lang="zh-CN" altLang="en-US" sz="3600" dirty="0">
              <a:latin typeface="+mn-lt"/>
            </a:endParaRP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9751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https://ipads.se.sjtu.edu.cn/zh/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获取框架代码</a:t>
            </a: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636A4960-2335-138E-D656-6C31B09B6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 numCol="1">
            <a:normAutofit/>
          </a:bodyPr>
          <a:lstStyle/>
          <a:p>
            <a:r>
              <a:rPr lang="zh-CN" altLang="en-US" dirty="0"/>
              <a:t>实验建议在</a:t>
            </a:r>
            <a:r>
              <a:rPr lang="en-US" altLang="zh-CN" dirty="0"/>
              <a:t> Linux </a:t>
            </a:r>
            <a:r>
              <a:rPr lang="zh-CN" altLang="en-US" dirty="0"/>
              <a:t>操作系统上完成，否则因为路径问题可能无法正常评测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 </a:t>
            </a:r>
            <a:r>
              <a:rPr lang="en-US" altLang="zh-CN" dirty="0" err="1"/>
              <a:t>git</a:t>
            </a:r>
            <a:r>
              <a:rPr lang="en-US" altLang="zh-CN" dirty="0"/>
              <a:t> </a:t>
            </a:r>
            <a:r>
              <a:rPr lang="zh-CN" altLang="en-US" dirty="0"/>
              <a:t>从</a:t>
            </a:r>
            <a:r>
              <a:rPr lang="en-US" altLang="zh-CN" dirty="0"/>
              <a:t> </a:t>
            </a:r>
            <a:r>
              <a:rPr lang="en-US" altLang="zh-CN" dirty="0" err="1"/>
              <a:t>github</a:t>
            </a:r>
            <a:r>
              <a:rPr lang="en-US" altLang="zh-CN" dirty="0"/>
              <a:t> </a:t>
            </a:r>
            <a:r>
              <a:rPr lang="zh-CN" altLang="en-US" dirty="0"/>
              <a:t>上拉取代码</a:t>
            </a:r>
            <a:r>
              <a:rPr lang="en-US" altLang="zh-CN" dirty="0"/>
              <a:t>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GIT_LFS_SKIP_SMUDGE=1 </a:t>
            </a:r>
            <a:r>
              <a:rPr lang="en-US" altLang="zh-CN" dirty="0" err="1">
                <a:latin typeface="Consolas" panose="020B0609020204030204" pitchFamily="49" charset="0"/>
              </a:rPr>
              <a:t>git</a:t>
            </a:r>
            <a:r>
              <a:rPr lang="en-US" altLang="zh-CN" dirty="0">
                <a:latin typeface="Consolas" panose="020B0609020204030204" pitchFamily="49" charset="0"/>
              </a:rPr>
              <a:t> clone \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https://github.com/SJTU-IPADS/OS-Course-Lab.git \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-b OS-Pre-Course-CSAPP \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--single-branch \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--depth 1</a:t>
            </a:r>
            <a:endParaRPr lang="en-US" altLang="zh-CN" dirty="0"/>
          </a:p>
          <a:p>
            <a:r>
              <a:rPr lang="zh-CN" altLang="en-US" dirty="0"/>
              <a:t>只需保留</a:t>
            </a:r>
            <a:r>
              <a:rPr lang="en-US" altLang="zh-CN" dirty="0"/>
              <a:t> </a:t>
            </a:r>
            <a:r>
              <a:rPr lang="en-US" altLang="zh-CN" dirty="0" err="1"/>
              <a:t>AgentLab</a:t>
            </a:r>
            <a:r>
              <a:rPr lang="en-US" altLang="zh-CN" dirty="0"/>
              <a:t> </a:t>
            </a:r>
            <a:r>
              <a:rPr lang="zh-CN" altLang="en-US" dirty="0"/>
              <a:t>文件夹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90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获取框架代码</a:t>
            </a: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636A4960-2335-138E-D656-6C31B09B6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5986"/>
            <a:ext cx="8229600" cy="1951903"/>
          </a:xfrm>
        </p:spPr>
        <p:txBody>
          <a:bodyPr numCol="1">
            <a:normAutofit fontScale="92500"/>
          </a:bodyPr>
          <a:lstStyle/>
          <a:p>
            <a:r>
              <a:rPr lang="zh-CN" altLang="en-US" dirty="0"/>
              <a:t>实验</a:t>
            </a:r>
            <a:r>
              <a:rPr lang="en-US" altLang="zh-CN" dirty="0"/>
              <a:t> Python </a:t>
            </a:r>
            <a:r>
              <a:rPr lang="zh-CN" altLang="en-US" dirty="0"/>
              <a:t>环境基于</a:t>
            </a:r>
            <a:r>
              <a:rPr lang="en-US" altLang="zh-CN" dirty="0"/>
              <a:t> </a:t>
            </a:r>
            <a:r>
              <a:rPr lang="en-US" altLang="zh-CN" dirty="0" err="1"/>
              <a:t>uv</a:t>
            </a:r>
            <a:r>
              <a:rPr lang="zh-CN" altLang="en-US" dirty="0"/>
              <a:t>，如果没有安装，请先安装。</a:t>
            </a:r>
            <a:r>
              <a:rPr lang="en-US" altLang="zh-CN" i="1" dirty="0" err="1"/>
              <a:t>uv</a:t>
            </a:r>
            <a:r>
              <a:rPr lang="en-US" altLang="zh-CN" i="1" dirty="0"/>
              <a:t> </a:t>
            </a:r>
            <a:r>
              <a:rPr lang="zh-CN" altLang="en-US" i="1" dirty="0"/>
              <a:t>号称比</a:t>
            </a:r>
            <a:r>
              <a:rPr lang="en-US" altLang="zh-CN" i="1" dirty="0"/>
              <a:t> pip </a:t>
            </a:r>
            <a:r>
              <a:rPr lang="zh-CN" altLang="en-US" i="1" dirty="0"/>
              <a:t>快</a:t>
            </a:r>
            <a:r>
              <a:rPr lang="en-US" altLang="zh-CN" i="1" dirty="0"/>
              <a:t> 10-100 </a:t>
            </a:r>
            <a:r>
              <a:rPr lang="zh-CN" altLang="en-US" i="1" dirty="0"/>
              <a:t>倍！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https://github.com/astral-sh/uv/releases/tag/0.11.13</a:t>
            </a:r>
            <a:endParaRPr lang="en-US" altLang="zh-CN" dirty="0"/>
          </a:p>
          <a:p>
            <a:r>
              <a:rPr lang="zh-CN" altLang="en-US" dirty="0"/>
              <a:t>在实验目录下执行</a:t>
            </a:r>
            <a:r>
              <a:rPr lang="en-US" altLang="zh-CN" dirty="0"/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uv</a:t>
            </a:r>
            <a:r>
              <a:rPr lang="en-US" altLang="zh-CN" dirty="0">
                <a:latin typeface="Consolas" panose="020B0609020204030204" pitchFamily="49" charset="0"/>
              </a:rPr>
              <a:t> run ./</a:t>
            </a:r>
            <a:r>
              <a:rPr lang="en-US" altLang="zh-CN" dirty="0" err="1">
                <a:latin typeface="Consolas" panose="020B0609020204030204" pitchFamily="49" charset="0"/>
              </a:rPr>
              <a:t>main.py</a:t>
            </a:r>
            <a:r>
              <a:rPr lang="en-US" altLang="zh-CN" dirty="0"/>
              <a:t> (or </a:t>
            </a:r>
            <a:r>
              <a:rPr lang="en-US" altLang="zh-CN" dirty="0">
                <a:latin typeface="Consolas" panose="020B0609020204030204" pitchFamily="49" charset="0"/>
              </a:rPr>
              <a:t>make shell</a:t>
            </a:r>
            <a:r>
              <a:rPr lang="en-US" altLang="zh-CN" dirty="0"/>
              <a:t>) </a:t>
            </a:r>
            <a:r>
              <a:rPr lang="zh-CN" altLang="en-US" dirty="0"/>
              <a:t>检查环境可用性：</a:t>
            </a:r>
            <a:endParaRPr lang="en-US" altLang="zh-CN" dirty="0"/>
          </a:p>
          <a:p>
            <a:r>
              <a:rPr lang="en-US" altLang="zh-CN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1F341-74CB-A854-EAEB-1CB010D9F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53" y="2610066"/>
            <a:ext cx="6727294" cy="26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2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实验概述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 numCol="1">
            <a:normAutofit/>
          </a:bodyPr>
          <a:lstStyle/>
          <a:p>
            <a:r>
              <a:rPr lang="zh-CN" altLang="en-US" dirty="0"/>
              <a:t>你需要实现一个自定义的</a:t>
            </a:r>
            <a:r>
              <a:rPr lang="en-US" altLang="zh-CN" dirty="0"/>
              <a:t>Agent</a:t>
            </a:r>
            <a:r>
              <a:rPr lang="zh-CN" altLang="en-US" dirty="0"/>
              <a:t>，它至少应该支持：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调用 </a:t>
            </a:r>
            <a:r>
              <a:rPr lang="en-US" altLang="zh-CN" dirty="0"/>
              <a:t>API</a:t>
            </a:r>
            <a:r>
              <a:rPr lang="zh-CN" altLang="en-US" dirty="0"/>
              <a:t> 进行多轮对话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支持工具调用（需要实现几个基本工具如读文件、终端等等）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支持按需技能加载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支持在上下文过长时进行压缩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支持持久化记忆系统</a:t>
            </a:r>
            <a:endParaRPr lang="en-US" altLang="zh-CN" dirty="0"/>
          </a:p>
          <a:p>
            <a:r>
              <a:rPr lang="zh-CN" altLang="en-US" dirty="0"/>
              <a:t>我们鼓励 </a:t>
            </a:r>
            <a:r>
              <a:rPr lang="en-US" altLang="zh-CN" dirty="0"/>
              <a:t>Vibe</a:t>
            </a:r>
            <a:r>
              <a:rPr lang="zh-CN" altLang="en-US" dirty="0"/>
              <a:t> </a:t>
            </a:r>
            <a:r>
              <a:rPr lang="en-US" altLang="zh-CN" dirty="0"/>
              <a:t>Coding</a:t>
            </a:r>
            <a:r>
              <a:rPr lang="zh-CN" altLang="en-US" dirty="0"/>
              <a:t>，但是请先了解 </a:t>
            </a:r>
            <a:r>
              <a:rPr lang="en-US" altLang="zh-CN" dirty="0"/>
              <a:t>Agent</a:t>
            </a:r>
            <a:r>
              <a:rPr lang="zh-CN" altLang="en-US" dirty="0"/>
              <a:t> 代码逻辑！</a:t>
            </a:r>
            <a:endParaRPr lang="en-US" altLang="zh-CN" dirty="0"/>
          </a:p>
          <a:p>
            <a:r>
              <a:rPr lang="en-US" altLang="zh-CN" dirty="0"/>
              <a:t>FYR: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Claude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>
                <a:hlinkClick r:id="rId2"/>
              </a:rPr>
              <a:t>https://learn.shareai.run/zh/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112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代码框架：</a:t>
            </a:r>
            <a:r>
              <a:rPr kumimoji="1" lang="en-US" altLang="zh-CN" dirty="0" err="1"/>
              <a:t>TransportLayer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61888"/>
          </a:xfrm>
        </p:spPr>
        <p:txBody>
          <a:bodyPr numCol="1">
            <a:normAutofit/>
          </a:bodyPr>
          <a:lstStyle/>
          <a:p>
            <a:r>
              <a:rPr lang="zh-CN" altLang="en-US" dirty="0"/>
              <a:t>已给出，位于 </a:t>
            </a:r>
            <a:r>
              <a:rPr lang="en-US" altLang="zh-CN" dirty="0" err="1"/>
              <a:t>ics_agent_lab</a:t>
            </a:r>
            <a:r>
              <a:rPr lang="en-US" altLang="zh-CN" dirty="0"/>
              <a:t>/</a:t>
            </a:r>
            <a:r>
              <a:rPr lang="en-US" altLang="zh-CN" dirty="0" err="1"/>
              <a:t>llm</a:t>
            </a:r>
            <a:r>
              <a:rPr lang="en-US" altLang="zh-CN" dirty="0"/>
              <a:t>/</a:t>
            </a:r>
            <a:r>
              <a:rPr lang="zh-CN" altLang="en-US" dirty="0"/>
              <a:t> 下，封装了 </a:t>
            </a:r>
            <a:r>
              <a:rPr lang="en-US" altLang="zh-CN" dirty="0" err="1"/>
              <a:t>OpenAI</a:t>
            </a:r>
            <a:r>
              <a:rPr lang="zh-CN" altLang="en-US" dirty="0"/>
              <a:t> </a:t>
            </a:r>
            <a:r>
              <a:rPr lang="en-US" altLang="zh-CN" dirty="0"/>
              <a:t>SDK</a:t>
            </a:r>
            <a:r>
              <a:rPr lang="zh-CN" altLang="en-US" dirty="0"/>
              <a:t> 以进行模型调用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仅有一个函数 </a:t>
            </a:r>
            <a:r>
              <a:rPr lang="en-US" altLang="zh-CN" dirty="0"/>
              <a:t>complete</a:t>
            </a:r>
            <a:r>
              <a:rPr lang="zh-CN" altLang="en-US" dirty="0"/>
              <a:t> 供调用，它接收消息列表作为参数，返回 </a:t>
            </a:r>
            <a:r>
              <a:rPr lang="en-US" altLang="zh-CN" dirty="0"/>
              <a:t>LLM</a:t>
            </a:r>
            <a:r>
              <a:rPr lang="zh-CN" altLang="en-US" dirty="0"/>
              <a:t> 的响应</a:t>
            </a:r>
            <a:endParaRPr lang="en-US" altLang="zh-CN" dirty="0"/>
          </a:p>
          <a:p>
            <a:r>
              <a:rPr lang="zh-CN" altLang="en-US" dirty="0"/>
              <a:t>我们实现了 </a:t>
            </a:r>
            <a:r>
              <a:rPr lang="en-US" altLang="zh-CN" dirty="0" err="1"/>
              <a:t>OpenRouterChatTransport</a:t>
            </a:r>
            <a:r>
              <a:rPr lang="zh-CN" altLang="en-US" dirty="0"/>
              <a:t> 供使用，只需在 </a:t>
            </a:r>
            <a:r>
              <a:rPr lang="en-US" altLang="zh-CN" dirty="0"/>
              <a:t>.</a:t>
            </a:r>
            <a:r>
              <a:rPr lang="en-US" altLang="zh-CN" dirty="0" err="1"/>
              <a:t>env</a:t>
            </a:r>
            <a:r>
              <a:rPr lang="zh-CN" altLang="en-US" dirty="0"/>
              <a:t> 中填写 </a:t>
            </a:r>
            <a:r>
              <a:rPr lang="en-US" altLang="zh-CN" dirty="0"/>
              <a:t>Key</a:t>
            </a:r>
            <a:r>
              <a:rPr lang="zh-CN" altLang="en-US" dirty="0"/>
              <a:t> 即可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如希望使用自有 </a:t>
            </a:r>
            <a:r>
              <a:rPr lang="en-US" altLang="zh-CN" dirty="0"/>
              <a:t>API</a:t>
            </a:r>
            <a:r>
              <a:rPr lang="zh-CN" altLang="en-US" dirty="0"/>
              <a:t>，可自行添加继承自 </a:t>
            </a:r>
            <a:r>
              <a:rPr lang="en-US" altLang="zh-CN" dirty="0" err="1"/>
              <a:t>LLMTransport</a:t>
            </a:r>
            <a:r>
              <a:rPr lang="zh-CN" altLang="en-US" dirty="0"/>
              <a:t> 的类型并实现 </a:t>
            </a:r>
            <a:r>
              <a:rPr lang="en-US" altLang="zh-CN" dirty="0"/>
              <a:t>complete</a:t>
            </a:r>
            <a:r>
              <a:rPr lang="zh-CN" altLang="en-US" dirty="0"/>
              <a:t> 函数，然后在 </a:t>
            </a:r>
            <a:r>
              <a:rPr lang="en-US" altLang="zh-CN" dirty="0" err="1"/>
              <a:t>build_llm</a:t>
            </a:r>
            <a:r>
              <a:rPr lang="zh-CN" altLang="en-US" dirty="0"/>
              <a:t> 函数中添加 </a:t>
            </a:r>
            <a:r>
              <a:rPr lang="en-US" altLang="zh-CN" dirty="0"/>
              <a:t>provider</a:t>
            </a:r>
            <a:r>
              <a:rPr lang="zh-CN" altLang="en-US" dirty="0"/>
              <a:t> 选项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测评时 </a:t>
            </a:r>
            <a:r>
              <a:rPr lang="en-US" altLang="zh-CN" dirty="0" err="1"/>
              <a:t>llm</a:t>
            </a:r>
            <a:r>
              <a:rPr lang="zh-CN" altLang="en-US" dirty="0"/>
              <a:t> 目录会被替换为初始实现，请确保能正常运行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请不要在除 </a:t>
            </a:r>
            <a:r>
              <a:rPr lang="en-US" altLang="zh-CN" dirty="0" err="1"/>
              <a:t>llm</a:t>
            </a:r>
            <a:r>
              <a:rPr lang="zh-CN" altLang="en-US" dirty="0"/>
              <a:t> 目录外的任何源码目录里导入 </a:t>
            </a:r>
            <a:r>
              <a:rPr lang="en-US" altLang="zh-CN" dirty="0" err="1"/>
              <a:t>openai</a:t>
            </a:r>
            <a:r>
              <a:rPr lang="zh-CN" altLang="en-US" dirty="0"/>
              <a:t> 库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6981F2-24F8-0979-6562-FF7A8AA35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66511"/>
            <a:ext cx="6096000" cy="101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代码框架：</a:t>
            </a:r>
            <a:r>
              <a:rPr kumimoji="1" lang="en-US" altLang="zh-CN" dirty="0"/>
              <a:t>Tools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 numCol="1">
            <a:normAutofit/>
          </a:bodyPr>
          <a:lstStyle/>
          <a:p>
            <a:r>
              <a:rPr lang="en-US" altLang="zh-CN" dirty="0" err="1"/>
              <a:t>ToolRegistry</a:t>
            </a:r>
            <a:r>
              <a:rPr lang="zh-CN" altLang="en-US" dirty="0"/>
              <a:t> 已给出，位于 </a:t>
            </a:r>
            <a:r>
              <a:rPr lang="en-US" altLang="zh-CN" dirty="0" err="1"/>
              <a:t>ics_agent_lab</a:t>
            </a:r>
            <a:r>
              <a:rPr lang="en-US" altLang="zh-CN" dirty="0"/>
              <a:t>/tools/</a:t>
            </a:r>
            <a:r>
              <a:rPr lang="zh-CN" altLang="en-US" dirty="0"/>
              <a:t> 下，其自动扫描 </a:t>
            </a:r>
            <a:r>
              <a:rPr lang="en-US" altLang="zh-CN" dirty="0"/>
              <a:t>tools/</a:t>
            </a:r>
            <a:r>
              <a:rPr lang="zh-CN" altLang="en-US" dirty="0"/>
              <a:t> 目录下所有公开 </a:t>
            </a:r>
            <a:r>
              <a:rPr lang="en-US" altLang="zh-CN" dirty="0"/>
              <a:t>Python</a:t>
            </a:r>
            <a:r>
              <a:rPr lang="zh-CN" altLang="en-US" dirty="0"/>
              <a:t> 文件，根据其所包含的 </a:t>
            </a:r>
            <a:r>
              <a:rPr lang="en-US" altLang="zh-CN" dirty="0" err="1"/>
              <a:t>make_tool</a:t>
            </a:r>
            <a:r>
              <a:rPr lang="zh-CN" altLang="en-US" dirty="0"/>
              <a:t> 函数创建工具</a:t>
            </a:r>
            <a:endParaRPr lang="en-US" altLang="zh-CN" dirty="0"/>
          </a:p>
          <a:p>
            <a:r>
              <a:rPr lang="zh-CN" altLang="en-US" dirty="0"/>
              <a:t>不需要关心 </a:t>
            </a:r>
            <a:r>
              <a:rPr lang="en-US" altLang="zh-CN" dirty="0" err="1"/>
              <a:t>ToolRegistry</a:t>
            </a:r>
            <a:r>
              <a:rPr lang="zh-CN" altLang="en-US" dirty="0"/>
              <a:t> 的具体实现，它的实例会自动传入 </a:t>
            </a:r>
            <a:r>
              <a:rPr lang="en-US" altLang="zh-CN" dirty="0" err="1"/>
              <a:t>core.agent.Agent</a:t>
            </a:r>
            <a:r>
              <a:rPr lang="zh-CN" altLang="en-US" dirty="0"/>
              <a:t> 中，可以按需调用：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tool_registry.docs</a:t>
            </a:r>
            <a:r>
              <a:rPr lang="en-US" altLang="zh-CN" dirty="0"/>
              <a:t>():</a:t>
            </a:r>
            <a:r>
              <a:rPr lang="zh-CN" altLang="en-US" dirty="0"/>
              <a:t> 获取所有工具的调用说明，可直接提供给 </a:t>
            </a:r>
            <a:r>
              <a:rPr lang="en-US" altLang="zh-CN" dirty="0"/>
              <a:t>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tool_registry.run</a:t>
            </a:r>
            <a:r>
              <a:rPr lang="en-US" altLang="zh-CN" dirty="0"/>
              <a:t>():</a:t>
            </a:r>
            <a:r>
              <a:rPr lang="zh-CN" altLang="en-US" dirty="0"/>
              <a:t> 执行某工具并获得其返回值</a:t>
            </a:r>
            <a:endParaRPr lang="en-US" altLang="zh-CN" dirty="0"/>
          </a:p>
          <a:p>
            <a:r>
              <a:rPr lang="zh-CN" altLang="en-US" dirty="0"/>
              <a:t>这部分框架里，你需要实现我们在 </a:t>
            </a:r>
            <a:r>
              <a:rPr lang="en-US" altLang="zh-CN" dirty="0"/>
              <a:t>tools/</a:t>
            </a:r>
            <a:r>
              <a:rPr lang="zh-CN" altLang="en-US" dirty="0"/>
              <a:t> 目录下留空的工具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162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代码框架：</a:t>
            </a:r>
            <a:r>
              <a:rPr kumimoji="1" lang="en-US" altLang="zh-CN" dirty="0"/>
              <a:t>Runtime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095835"/>
          </a:xfrm>
        </p:spPr>
        <p:txBody>
          <a:bodyPr numCol="1">
            <a:normAutofit/>
          </a:bodyPr>
          <a:lstStyle/>
          <a:p>
            <a:r>
              <a:rPr lang="en-US" altLang="zh-CN" dirty="0"/>
              <a:t>runtime</a:t>
            </a:r>
            <a:r>
              <a:rPr lang="zh-CN" altLang="en-US" dirty="0"/>
              <a:t> 模块根据配置构建起整个 </a:t>
            </a:r>
            <a:r>
              <a:rPr lang="en-US" altLang="zh-CN" dirty="0"/>
              <a:t>Agent</a:t>
            </a:r>
            <a:r>
              <a:rPr lang="zh-CN" altLang="en-US" dirty="0"/>
              <a:t>，里面配置了 </a:t>
            </a:r>
            <a:r>
              <a:rPr lang="en-US" altLang="zh-CN" dirty="0"/>
              <a:t>model</a:t>
            </a:r>
            <a:r>
              <a:rPr lang="zh-CN" altLang="en-US" dirty="0"/>
              <a:t>、</a:t>
            </a:r>
            <a:r>
              <a:rPr lang="en-US" altLang="zh-CN" dirty="0"/>
              <a:t>workspace</a:t>
            </a:r>
            <a:r>
              <a:rPr lang="zh-CN" altLang="en-US" dirty="0"/>
              <a:t>、</a:t>
            </a:r>
            <a:r>
              <a:rPr lang="en-US" altLang="zh-CN" dirty="0"/>
              <a:t>seed</a:t>
            </a:r>
            <a:r>
              <a:rPr lang="zh-CN" altLang="en-US" dirty="0"/>
              <a:t>、</a:t>
            </a:r>
            <a:r>
              <a:rPr lang="en-US" altLang="zh-CN" dirty="0"/>
              <a:t>temperature</a:t>
            </a:r>
            <a:r>
              <a:rPr lang="zh-CN" altLang="en-US" dirty="0"/>
              <a:t>、</a:t>
            </a:r>
            <a:r>
              <a:rPr lang="en-US" altLang="zh-CN" dirty="0" err="1"/>
              <a:t>skills_dir</a:t>
            </a:r>
            <a:r>
              <a:rPr lang="zh-CN" altLang="en-US" dirty="0"/>
              <a:t>、</a:t>
            </a:r>
            <a:r>
              <a:rPr lang="en-US" altLang="zh-CN" dirty="0" err="1"/>
              <a:t>TransportLayer</a:t>
            </a:r>
            <a:r>
              <a:rPr lang="zh-CN" altLang="en-US" dirty="0"/>
              <a:t> 等等，这些配置大部分从 </a:t>
            </a:r>
            <a:r>
              <a:rPr lang="en-US" altLang="zh-CN" dirty="0"/>
              <a:t>.</a:t>
            </a:r>
            <a:r>
              <a:rPr lang="en-US" altLang="zh-CN" dirty="0" err="1"/>
              <a:t>env</a:t>
            </a:r>
            <a:r>
              <a:rPr lang="zh-CN" altLang="en-US" dirty="0"/>
              <a:t> 中读取而来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通常来说只需要填入 </a:t>
            </a:r>
            <a:r>
              <a:rPr lang="en-US" altLang="zh-CN" dirty="0"/>
              <a:t>OPENROUTER_API_KEY</a:t>
            </a:r>
            <a:r>
              <a:rPr lang="zh-CN" altLang="en-US" dirty="0"/>
              <a:t> 即可，我们在进行测评时使用的也是该默认配置（除 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efficiency</a:t>
            </a:r>
            <a:r>
              <a:rPr lang="zh-CN" altLang="en-US" dirty="0"/>
              <a:t> 部分外）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测评时 </a:t>
            </a:r>
            <a:r>
              <a:rPr lang="en-US" altLang="zh-CN" dirty="0"/>
              <a:t>runtime</a:t>
            </a:r>
            <a:r>
              <a:rPr lang="zh-CN" altLang="en-US" dirty="0"/>
              <a:t> 目录会被替换为初始实现，请确保能正常运行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5BAF7-102F-00A5-CEA2-00A24C3C7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47156"/>
            <a:ext cx="6096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5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代码框架：</a:t>
            </a:r>
            <a:r>
              <a:rPr kumimoji="1" lang="en-US" altLang="zh-CN" dirty="0"/>
              <a:t>Memory/Skills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 numCol="1">
            <a:normAutofit/>
          </a:bodyPr>
          <a:lstStyle/>
          <a:p>
            <a:r>
              <a:rPr lang="en-US" altLang="zh-CN" dirty="0"/>
              <a:t>Memory</a:t>
            </a:r>
            <a:r>
              <a:rPr lang="zh-CN" altLang="en-US" dirty="0"/>
              <a:t> 是记忆模块，负责管理 </a:t>
            </a:r>
            <a:r>
              <a:rPr lang="en-US" altLang="zh-CN" dirty="0"/>
              <a:t>Agent</a:t>
            </a:r>
            <a:r>
              <a:rPr lang="zh-CN" altLang="en-US" dirty="0"/>
              <a:t> 的持久化记忆。</a:t>
            </a:r>
            <a:r>
              <a:rPr lang="en-US" altLang="zh-CN" dirty="0"/>
              <a:t>Skills</a:t>
            </a:r>
            <a:r>
              <a:rPr lang="zh-CN" altLang="en-US" dirty="0"/>
              <a:t> 是技能模块，负责引入外部规范化流程（</a:t>
            </a:r>
            <a:r>
              <a:rPr lang="en-US" altLang="zh-CN" dirty="0" err="1"/>
              <a:t>SKILL.md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这两部分的实现很自由，但请注意：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Memory</a:t>
            </a:r>
            <a:r>
              <a:rPr lang="zh-CN" altLang="en-US" dirty="0"/>
              <a:t> 模块在测评中会有多 </a:t>
            </a:r>
            <a:r>
              <a:rPr lang="en-US" altLang="zh-CN" dirty="0"/>
              <a:t>session</a:t>
            </a:r>
            <a:r>
              <a:rPr lang="zh-CN" altLang="en-US" dirty="0"/>
              <a:t> 测试，可以考虑在 </a:t>
            </a:r>
            <a:r>
              <a:rPr lang="en-US" altLang="zh-CN" dirty="0"/>
              <a:t>workspace</a:t>
            </a:r>
            <a:r>
              <a:rPr lang="zh-CN" altLang="en-US" dirty="0"/>
              <a:t> 下创建文件进行记忆保存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Skills</a:t>
            </a:r>
            <a:r>
              <a:rPr lang="zh-CN" altLang="en-US" dirty="0"/>
              <a:t> 模块没有单独的测评，其与 </a:t>
            </a:r>
            <a:r>
              <a:rPr lang="en-US" altLang="zh-CN" dirty="0"/>
              <a:t>Assignments</a:t>
            </a:r>
            <a:r>
              <a:rPr lang="zh-CN" altLang="en-US" dirty="0"/>
              <a:t> 部分结合，稍后提及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7843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代码框架：</a:t>
            </a:r>
            <a:r>
              <a:rPr kumimoji="1" lang="en-US" altLang="zh-CN" dirty="0"/>
              <a:t>Core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 numCol="1">
            <a:normAutofit/>
          </a:bodyPr>
          <a:lstStyle/>
          <a:p>
            <a:r>
              <a:rPr lang="en-US" altLang="zh-CN" dirty="0"/>
              <a:t>Core</a:t>
            </a:r>
            <a:r>
              <a:rPr lang="zh-CN" altLang="en-US" dirty="0"/>
              <a:t> 是 </a:t>
            </a:r>
            <a:r>
              <a:rPr lang="en-US" altLang="zh-CN" dirty="0"/>
              <a:t>Agent</a:t>
            </a:r>
            <a:r>
              <a:rPr lang="zh-CN" altLang="en-US" dirty="0"/>
              <a:t> 核心模块，包含 </a:t>
            </a:r>
            <a:r>
              <a:rPr lang="en-US" altLang="zh-CN" dirty="0"/>
              <a:t>Agent</a:t>
            </a:r>
            <a:r>
              <a:rPr lang="zh-CN" altLang="en-US" dirty="0"/>
              <a:t> 主循环、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撰写（含与 </a:t>
            </a:r>
            <a:r>
              <a:rPr lang="en-US" altLang="zh-CN" dirty="0"/>
              <a:t>LLM</a:t>
            </a:r>
            <a:r>
              <a:rPr lang="zh-CN" altLang="en-US" dirty="0"/>
              <a:t> 所约定的回复协议，本实验建议使用 </a:t>
            </a:r>
            <a:r>
              <a:rPr lang="en-US" altLang="zh-CN" dirty="0"/>
              <a:t>JSON</a:t>
            </a:r>
            <a:r>
              <a:rPr lang="zh-CN" altLang="en-US" dirty="0"/>
              <a:t>）、工具调用逻辑、容错处理、日志记录等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该模块的核心逻辑可以参考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Claude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请确保每次 </a:t>
            </a:r>
            <a:r>
              <a:rPr lang="en-US" altLang="zh-CN" dirty="0"/>
              <a:t>LLM</a:t>
            </a:r>
            <a:r>
              <a:rPr lang="zh-CN" altLang="en-US" dirty="0"/>
              <a:t> 回复、工具调用等均有日志记录，需要记录的事件包括 </a:t>
            </a:r>
            <a:r>
              <a:rPr lang="en-US" altLang="zh-CN" dirty="0" err="1"/>
              <a:t>llm_response</a:t>
            </a:r>
            <a:r>
              <a:rPr lang="zh-CN" altLang="en-US" dirty="0"/>
              <a:t>、</a:t>
            </a:r>
            <a:r>
              <a:rPr lang="en-US" altLang="zh-CN" dirty="0" err="1"/>
              <a:t>tool_call</a:t>
            </a:r>
            <a:r>
              <a:rPr lang="zh-CN" altLang="en-US" dirty="0"/>
              <a:t>、</a:t>
            </a:r>
            <a:r>
              <a:rPr lang="en-US" altLang="zh-CN" dirty="0"/>
              <a:t>final</a:t>
            </a:r>
            <a:r>
              <a:rPr lang="zh-CN" altLang="en-US" dirty="0"/>
              <a:t>，示例如下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45EB17-0143-7520-D786-4C13D22F6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77" y="3775968"/>
            <a:ext cx="8403245" cy="102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5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实验评分：工具调用部分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 numCol="1">
            <a:normAutofit/>
          </a:bodyPr>
          <a:lstStyle/>
          <a:p>
            <a:r>
              <a:rPr lang="zh-CN" altLang="en-US" dirty="0"/>
              <a:t>该部分评分主要评测 </a:t>
            </a:r>
            <a:r>
              <a:rPr lang="en-US" altLang="zh-CN" dirty="0"/>
              <a:t>Agent</a:t>
            </a:r>
            <a:r>
              <a:rPr lang="zh-CN" altLang="en-US" dirty="0"/>
              <a:t> 框架能否正常调用工具进行操作，同时我们对 </a:t>
            </a:r>
            <a:r>
              <a:rPr lang="en-US" altLang="zh-CN" dirty="0"/>
              <a:t>token</a:t>
            </a:r>
            <a:r>
              <a:rPr lang="zh-CN" altLang="en-US" dirty="0"/>
              <a:t>、</a:t>
            </a:r>
            <a:r>
              <a:rPr lang="en-US" altLang="zh-CN" dirty="0" err="1"/>
              <a:t>tool_call</a:t>
            </a:r>
            <a:r>
              <a:rPr lang="zh-CN" altLang="en-US" dirty="0"/>
              <a:t> 的数量等存在一定的限制条件，如果超出，你需要对代码进行一定的优化。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该部分测评比较跳跃，因为此时你应该基本完成了 </a:t>
            </a:r>
            <a:r>
              <a:rPr lang="en-US" altLang="zh-CN" dirty="0"/>
              <a:t>Agent</a:t>
            </a:r>
            <a:r>
              <a:rPr lang="zh-CN" altLang="en-US" dirty="0"/>
              <a:t> 框架，在此之前如需单独对 </a:t>
            </a:r>
            <a:r>
              <a:rPr lang="en-US" altLang="zh-CN" dirty="0"/>
              <a:t>Agent</a:t>
            </a:r>
            <a:r>
              <a:rPr lang="zh-CN" altLang="en-US" dirty="0"/>
              <a:t> 框架进行测试，可以考虑通过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shell</a:t>
            </a:r>
            <a:r>
              <a:rPr lang="zh-CN" altLang="en-US" dirty="0"/>
              <a:t> 查看 </a:t>
            </a:r>
            <a:r>
              <a:rPr lang="en-US" altLang="zh-CN" dirty="0"/>
              <a:t>trace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tool_call</a:t>
            </a:r>
            <a:r>
              <a:rPr lang="zh-CN" altLang="en-US" dirty="0"/>
              <a:t> 等记录主要来自于你的 </a:t>
            </a:r>
            <a:r>
              <a:rPr lang="en-US" altLang="zh-CN" dirty="0"/>
              <a:t>trace</a:t>
            </a:r>
            <a:r>
              <a:rPr lang="zh-CN" altLang="en-US" dirty="0"/>
              <a:t>，因此请确保 </a:t>
            </a:r>
            <a:r>
              <a:rPr lang="en-US" altLang="zh-CN" dirty="0"/>
              <a:t>trace</a:t>
            </a:r>
            <a:r>
              <a:rPr lang="zh-CN" altLang="en-US" dirty="0"/>
              <a:t> 模块正确实现了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关于该部分测评的说明，请参考 </a:t>
            </a:r>
            <a:r>
              <a:rPr lang="en-US" altLang="zh-CN" dirty="0"/>
              <a:t>docs/</a:t>
            </a:r>
            <a:r>
              <a:rPr lang="en-US" altLang="zh-CN" dirty="0" err="1"/>
              <a:t>eval-guide.md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5494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实验评分：技能撰写部分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 numCol="1">
            <a:normAutofit/>
          </a:bodyPr>
          <a:lstStyle/>
          <a:p>
            <a:r>
              <a:rPr lang="zh-CN" altLang="en-US" dirty="0"/>
              <a:t>该部分评分主要评测你撰写 </a:t>
            </a:r>
            <a:r>
              <a:rPr lang="en-US" altLang="zh-CN" dirty="0" err="1"/>
              <a:t>SKILL.md</a:t>
            </a:r>
            <a:r>
              <a:rPr lang="zh-CN" altLang="en-US" dirty="0"/>
              <a:t> 的能力，以及 </a:t>
            </a:r>
            <a:r>
              <a:rPr lang="en-US" altLang="zh-CN" dirty="0"/>
              <a:t>Agent</a:t>
            </a:r>
            <a:r>
              <a:rPr lang="zh-CN" altLang="en-US" dirty="0"/>
              <a:t> 框架加载 </a:t>
            </a:r>
            <a:r>
              <a:rPr lang="en-US" altLang="zh-CN" dirty="0"/>
              <a:t>Skill</a:t>
            </a:r>
            <a:r>
              <a:rPr lang="zh-CN" altLang="en-US" dirty="0"/>
              <a:t> 的功能是否正常</a:t>
            </a:r>
            <a:endParaRPr lang="en-US" altLang="zh-CN" dirty="0"/>
          </a:p>
          <a:p>
            <a:r>
              <a:rPr lang="zh-CN" altLang="en-US" dirty="0"/>
              <a:t>该部分位于 </a:t>
            </a:r>
            <a:r>
              <a:rPr lang="en-US" altLang="zh-CN" dirty="0"/>
              <a:t>assignments/</a:t>
            </a:r>
            <a:r>
              <a:rPr lang="zh-CN" altLang="en-US" dirty="0"/>
              <a:t> 目录下，你需要阅读情境描述，设计该情境下特有的 </a:t>
            </a:r>
            <a:r>
              <a:rPr lang="en-US" altLang="zh-CN" dirty="0"/>
              <a:t>tool</a:t>
            </a:r>
            <a:r>
              <a:rPr lang="zh-CN" altLang="en-US" dirty="0"/>
              <a:t>，然后在 </a:t>
            </a:r>
            <a:r>
              <a:rPr lang="en-US" altLang="zh-CN" dirty="0" err="1"/>
              <a:t>SKILL.md</a:t>
            </a:r>
            <a:r>
              <a:rPr lang="zh-CN" altLang="en-US" dirty="0"/>
              <a:t> 里告知 </a:t>
            </a:r>
            <a:r>
              <a:rPr lang="en-US" altLang="zh-CN" dirty="0"/>
              <a:t>LLM</a:t>
            </a:r>
            <a:r>
              <a:rPr lang="zh-CN" altLang="en-US" dirty="0"/>
              <a:t> 完成该任务的主要流程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关于 </a:t>
            </a:r>
            <a:r>
              <a:rPr lang="en-US" altLang="zh-CN" dirty="0"/>
              <a:t>Skill</a:t>
            </a:r>
            <a:r>
              <a:rPr lang="zh-CN" altLang="en-US" dirty="0"/>
              <a:t> 的撰写技巧，请参考 </a:t>
            </a:r>
            <a:r>
              <a:rPr lang="en-US" altLang="zh-CN" dirty="0"/>
              <a:t>docs/skill-</a:t>
            </a:r>
            <a:r>
              <a:rPr lang="en-US" altLang="zh-CN" dirty="0" err="1"/>
              <a:t>design.md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01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B5594-72BD-9A42-AF60-54B7F3D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实验评分：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Efficiency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OJ</a:t>
            </a:r>
            <a:r>
              <a:rPr kumimoji="1" lang="zh-CN" altLang="en-US" dirty="0"/>
              <a:t> 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2AEDD-6960-BF4C-AA3F-92C049A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66F532-736A-E493-0B78-684C480D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036794"/>
          </a:xfrm>
        </p:spPr>
        <p:txBody>
          <a:bodyPr numCol="1">
            <a:normAutofit/>
          </a:bodyPr>
          <a:lstStyle/>
          <a:p>
            <a:r>
              <a:rPr lang="zh-CN" altLang="en-US" dirty="0"/>
              <a:t>该部分评分主要评测你的 </a:t>
            </a:r>
            <a:r>
              <a:rPr lang="en-US" altLang="zh-CN" dirty="0"/>
              <a:t>Agent</a:t>
            </a:r>
            <a:r>
              <a:rPr lang="zh-CN" altLang="en-US" dirty="0"/>
              <a:t> 框架在 </a:t>
            </a:r>
            <a:r>
              <a:rPr lang="en-US" altLang="zh-CN" dirty="0"/>
              <a:t>token</a:t>
            </a:r>
            <a:r>
              <a:rPr lang="zh-CN" altLang="en-US" dirty="0"/>
              <a:t> 开销上是否足够高效。此部分的测试集不公开，你需要将你的 </a:t>
            </a:r>
            <a:r>
              <a:rPr lang="en-US" altLang="zh-CN" dirty="0" err="1"/>
              <a:t>ics_agent_lab</a:t>
            </a:r>
            <a:r>
              <a:rPr lang="zh-CN" altLang="en-US" dirty="0"/>
              <a:t> 目录压缩成 </a:t>
            </a:r>
            <a:r>
              <a:rPr lang="en-US" altLang="zh-CN" dirty="0"/>
              <a:t>zip</a:t>
            </a:r>
            <a:r>
              <a:rPr lang="zh-CN" altLang="en-US" dirty="0"/>
              <a:t> 文件上传到 </a:t>
            </a:r>
            <a:r>
              <a:rPr lang="en-US" altLang="zh-CN" dirty="0"/>
              <a:t>OJ</a:t>
            </a:r>
            <a:r>
              <a:rPr lang="zh-CN" altLang="en-US" dirty="0"/>
              <a:t> 测评网站进行评分 </a:t>
            </a:r>
            <a:r>
              <a:rPr lang="en-US" altLang="zh-CN" dirty="0">
                <a:hlinkClick r:id="rId2"/>
              </a:rPr>
              <a:t>https://ipads.se.sjtu.edu.cn/courses/ics/ics-agent-lab</a:t>
            </a:r>
            <a:endParaRPr lang="en-US" altLang="zh-CN" dirty="0"/>
          </a:p>
          <a:p>
            <a:r>
              <a:rPr lang="zh-CN" altLang="en-US" dirty="0"/>
              <a:t>该部分你可以重点优化：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实现上下文压缩，以及对压缩的优化（如调整超参数）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缩减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，或者对沟通协议进行优化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……</a:t>
            </a:r>
          </a:p>
          <a:p>
            <a:r>
              <a:rPr lang="zh-CN" altLang="en-US" dirty="0"/>
              <a:t>具体评分细则以及网站操作参见 </a:t>
            </a:r>
            <a:r>
              <a:rPr lang="en-US" altLang="zh-CN" dirty="0" err="1"/>
              <a:t>README.md</a:t>
            </a:r>
            <a:endParaRPr lang="en-US" altLang="zh-CN" dirty="0"/>
          </a:p>
          <a:p>
            <a:r>
              <a:rPr lang="zh-CN" altLang="en-US" dirty="0"/>
              <a:t>注意：请不要过于频繁地在网站上进行提交，这对 </a:t>
            </a:r>
            <a:r>
              <a:rPr lang="en-US" altLang="zh-CN" dirty="0"/>
              <a:t>token</a:t>
            </a:r>
            <a:r>
              <a:rPr lang="zh-CN" altLang="en-US" dirty="0"/>
              <a:t> 的消耗很大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413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Info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04456"/>
          </a:xfrm>
        </p:spPr>
        <p:txBody>
          <a:bodyPr>
            <a:normAutofit/>
          </a:bodyPr>
          <a:lstStyle/>
          <a:p>
            <a:r>
              <a:rPr lang="en-US" altLang="zh-CN" dirty="0"/>
              <a:t>TAs</a:t>
            </a:r>
          </a:p>
          <a:p>
            <a:pPr lvl="1"/>
            <a:r>
              <a:rPr lang="zh-CN" altLang="en-US" sz="1700" dirty="0"/>
              <a:t>廖承凡</a:t>
            </a:r>
            <a:endParaRPr lang="en-US" altLang="zh-CN" sz="1700" dirty="0"/>
          </a:p>
          <a:p>
            <a:pPr lvl="1"/>
            <a:r>
              <a:rPr lang="zh-CN" altLang="en-US" sz="1700" dirty="0"/>
              <a:t>刘佳隆</a:t>
            </a:r>
            <a:endParaRPr lang="en-US" altLang="zh-CN" sz="1700" dirty="0"/>
          </a:p>
          <a:p>
            <a:pPr lvl="1"/>
            <a:r>
              <a:rPr lang="zh-CN" altLang="en-US" sz="1700" dirty="0"/>
              <a:t>吴银朋</a:t>
            </a:r>
            <a:endParaRPr lang="en-US" altLang="zh-CN" sz="1700" dirty="0"/>
          </a:p>
          <a:p>
            <a:r>
              <a:rPr lang="zh-CN" altLang="en-US" dirty="0"/>
              <a:t>答辩初步安排</a:t>
            </a:r>
            <a:endParaRPr lang="en-US" altLang="zh-CN" dirty="0"/>
          </a:p>
          <a:p>
            <a:pPr lvl="1"/>
            <a:r>
              <a:rPr lang="zh-CN" altLang="en-US" dirty="0"/>
              <a:t>第 </a:t>
            </a:r>
            <a:r>
              <a:rPr lang="en-US" altLang="zh-CN" dirty="0"/>
              <a:t>16</a:t>
            </a:r>
            <a:r>
              <a:rPr lang="zh-CN" altLang="en-US" dirty="0"/>
              <a:t> 周 </a:t>
            </a:r>
            <a:r>
              <a:rPr lang="en-US" altLang="zh-CN" dirty="0"/>
              <a:t>ICS</a:t>
            </a:r>
            <a:r>
              <a:rPr lang="zh-CN" altLang="en-US" dirty="0"/>
              <a:t> 课上进行，主要考察是否足够了解提交的代码</a:t>
            </a:r>
            <a:endParaRPr lang="en-US" altLang="zh-CN" sz="1700" dirty="0"/>
          </a:p>
          <a:p>
            <a:r>
              <a:rPr lang="en-US" altLang="zh-CN" dirty="0"/>
              <a:t>DDL</a:t>
            </a:r>
          </a:p>
          <a:p>
            <a:pPr lvl="1"/>
            <a:r>
              <a:rPr lang="zh-CN" altLang="en-US" dirty="0"/>
              <a:t>答辩之前，约 </a:t>
            </a:r>
            <a:r>
              <a:rPr lang="en-US" altLang="zh-CN" dirty="0"/>
              <a:t>4</a:t>
            </a:r>
            <a:r>
              <a:rPr lang="zh-CN" altLang="en-US" dirty="0"/>
              <a:t> 周时间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15568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chemeClr val="tx1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38764</TotalTime>
  <Words>2899</Words>
  <Application>Microsoft Office PowerPoint</Application>
  <PresentationFormat>On-screen Show (16:10)</PresentationFormat>
  <Paragraphs>535</Paragraphs>
  <Slides>13</Slides>
  <Notes>2</Notes>
  <HiddenSlides>0</HiddenSlides>
  <MMClips>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1_Office 主题​​</vt:lpstr>
      <vt:lpstr>ICS Agent Lab</vt:lpstr>
      <vt:lpstr>获取框架代码</vt:lpstr>
      <vt:lpstr>获取框架代码</vt:lpstr>
      <vt:lpstr>实验概述</vt:lpstr>
      <vt:lpstr>代码框架：TransportLayer</vt:lpstr>
      <vt:lpstr>代码框架：Tools</vt:lpstr>
      <vt:lpstr>代码框架：Runtime</vt:lpstr>
      <vt:lpstr>代码框架：Memory/Skills</vt:lpstr>
      <vt:lpstr>代码框架：Core</vt:lpstr>
      <vt:lpstr>实验评分：工具调用部分</vt:lpstr>
      <vt:lpstr>实验评分：技能撰写部分</vt:lpstr>
      <vt:lpstr>实验评分：Token Efficiency OJ 部分</vt:lpstr>
      <vt:lpstr>Lab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Chengfan Liao</cp:lastModifiedBy>
  <cp:revision>1584</cp:revision>
  <cp:lastPrinted>2020-03-02T13:38:09Z</cp:lastPrinted>
  <dcterms:created xsi:type="dcterms:W3CDTF">2017-11-24T09:35:45Z</dcterms:created>
  <dcterms:modified xsi:type="dcterms:W3CDTF">2026-05-12T17:43:00Z</dcterms:modified>
</cp:coreProperties>
</file>